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599" autoAdjust="0"/>
  </p:normalViewPr>
  <p:slideViewPr>
    <p:cSldViewPr snapToGrid="0">
      <p:cViewPr varScale="1">
        <p:scale>
          <a:sx n="66" d="100"/>
          <a:sy n="66" d="100"/>
        </p:scale>
        <p:origin x="13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4502A-233B-4759-8ADB-509475F3C6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2FCE0-402D-4C7B-AC02-138946969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0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Project simulates real NHS Business intelligence reporting scenario. I worked with NHS Wales financial datasets. The objective was to produce decision – support dashboards suitable for operational and strategic use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2FCE0-402D-4C7B-AC02-1389469692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4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2FCE0-402D-4C7B-AC02-1389469692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89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building dashboards, I treated this as a real BI reporting problem rather than jumping straight into Power BI.</a:t>
            </a:r>
          </a:p>
          <a:p>
            <a:r>
              <a:rPr lang="en-US" dirty="0"/>
              <a:t>In dataset assessment, I confirmed structural consistency across all nine health boards. I addressed the single-board scope limitation by ensuring all boards were </a:t>
            </a:r>
            <a:r>
              <a:rPr lang="en-US" dirty="0" err="1"/>
              <a:t>standardised</a:t>
            </a:r>
            <a:r>
              <a:rPr lang="en-US" dirty="0"/>
              <a:t> into one reporting layer. I identified category hierarchy inconsistencies, where some service areas had breakdowns and others were standalone totals. I also reconciled expenditure, per-head, and percentage-of-total datasets to ensure they aligned numerically.</a:t>
            </a:r>
          </a:p>
          <a:p>
            <a:r>
              <a:rPr lang="en-US" dirty="0"/>
              <a:t>I defined a consistent reporting grain at </a:t>
            </a:r>
            <a:r>
              <a:rPr lang="en-US" dirty="0" err="1"/>
              <a:t>HealthBoard</a:t>
            </a:r>
            <a:r>
              <a:rPr lang="en-US" dirty="0"/>
              <a:t> by Category by </a:t>
            </a:r>
            <a:r>
              <a:rPr lang="en-US" dirty="0" err="1"/>
              <a:t>FinancialYear</a:t>
            </a:r>
            <a:r>
              <a:rPr lang="en-US" dirty="0"/>
              <a:t> by </a:t>
            </a:r>
            <a:r>
              <a:rPr lang="en-US" dirty="0" err="1"/>
              <a:t>MetricType</a:t>
            </a:r>
            <a:r>
              <a:rPr lang="en-US" dirty="0"/>
              <a:t>. This ensured all three metrics could be unified into a single fact table. For executive reporting, I restricted analysis to total categories only, and used breakdowns only for diagnostic drilldown.</a:t>
            </a:r>
          </a:p>
          <a:p>
            <a:r>
              <a:rPr lang="en-US" dirty="0"/>
              <a:t>Finally, I applied a validation framework. I ran structural completeness checks to ensure every board had the same categories and years. I performed numeric sanity checks to confirm non-negative values and realistic percentage ranges. I reconciled metrics by verifying that expenditure shares aligned with percentage-of-total data, and that per-head figures were consistent with implied population. I also implemented hierarchy safety controls to prevent double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2FCE0-402D-4C7B-AC02-1389469692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23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output is a set of three dashboards that together answer all five stakeholder questions. Each dashboard uses techniques aligned to the question being answered. Year-on-year analysis highlights emerging pressure rather than absolute size. Per-head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enables fair comparison across boards. Share-of-total analysis reveals strategic shifts in funding priorities. The focus throughout was on clarity, interpretability, and avoiding over-claiming.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Each dashboard serves a distinct purpose: operational pressure monitoring, equity and variation analysis, and strategic funding mix assessment. I will now briefly walk through each dashboard to show how these insights are delivered in practice.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2FCE0-402D-4C7B-AC02-1389469692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04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40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9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03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2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1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4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7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1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6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8C60DB9-5A00-46E4-ADB6-21EE70D2786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C9DD822-2009-471B-85CA-BD7764AB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1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4FAB-9359-D15E-0A63-F13C8A1C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597" y="2446990"/>
            <a:ext cx="10734806" cy="1220004"/>
          </a:xfrm>
        </p:spPr>
        <p:txBody>
          <a:bodyPr>
            <a:normAutofit/>
          </a:bodyPr>
          <a:lstStyle/>
          <a:p>
            <a:r>
              <a:rPr lang="en-US" sz="3800" dirty="0"/>
              <a:t>NHS Wales Financial Dashboard</a:t>
            </a:r>
          </a:p>
        </p:txBody>
      </p:sp>
    </p:spTree>
    <p:extLst>
      <p:ext uri="{BB962C8B-B14F-4D97-AF65-F5344CB8AC3E}">
        <p14:creationId xmlns:p14="http://schemas.microsoft.com/office/powerpoint/2010/main" val="360933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30AA7-6D76-2785-F65D-651F94E1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12" y="223912"/>
            <a:ext cx="7729728" cy="1188720"/>
          </a:xfrm>
        </p:spPr>
        <p:txBody>
          <a:bodyPr/>
          <a:lstStyle/>
          <a:p>
            <a:pPr algn="l"/>
            <a:r>
              <a:rPr lang="en-US" b="1" dirty="0"/>
              <a:t>Context &amp; Stakeholder Requests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9764-BC18-7C32-697E-FF361F754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12" y="1715962"/>
            <a:ext cx="10778808" cy="4291298"/>
          </a:xfrm>
        </p:spPr>
        <p:txBody>
          <a:bodyPr>
            <a:normAutofit/>
          </a:bodyPr>
          <a:lstStyle/>
          <a:p>
            <a:r>
              <a:rPr lang="en-US" sz="2000" dirty="0"/>
              <a:t>NHS Wales Financial datasets </a:t>
            </a:r>
          </a:p>
          <a:p>
            <a:pPr lvl="1"/>
            <a:r>
              <a:rPr lang="en-US" sz="2000" dirty="0"/>
              <a:t>Date range </a:t>
            </a:r>
            <a:r>
              <a:rPr lang="en-US" sz="2000"/>
              <a:t>– 2009 </a:t>
            </a:r>
            <a:r>
              <a:rPr lang="en-US" sz="2000" dirty="0"/>
              <a:t>to 2023</a:t>
            </a:r>
          </a:p>
          <a:p>
            <a:pPr lvl="1"/>
            <a:r>
              <a:rPr lang="en-US" sz="2000" dirty="0"/>
              <a:t>Includes data for all  Wales Health boards including Wales total</a:t>
            </a:r>
          </a:p>
          <a:p>
            <a:pPr lvl="2"/>
            <a:endParaRPr lang="en-US" sz="2000" dirty="0"/>
          </a:p>
          <a:p>
            <a:pPr lvl="1"/>
            <a:r>
              <a:rPr lang="en-US" sz="2000" dirty="0"/>
              <a:t>Broken into -: Expenditure per head, Percent of total &amp; Total of Category 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Simulated Business intelligence stakeholder request</a:t>
            </a:r>
          </a:p>
          <a:p>
            <a:pPr lvl="1"/>
            <a:r>
              <a:rPr lang="en-US" sz="2000" dirty="0"/>
              <a:t>Objective : Decision Support reporting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8748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3A8E-F114-7374-6145-7B27E900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13" y="10683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Translating Stakeholder Questions into Analytical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95BA-5A77-4669-2C89-A6CE18B12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3" y="1596830"/>
            <a:ext cx="11500412" cy="4780822"/>
          </a:xfrm>
        </p:spPr>
        <p:txBody>
          <a:bodyPr>
            <a:normAutofit/>
          </a:bodyPr>
          <a:lstStyle/>
          <a:p>
            <a:r>
              <a:rPr lang="en-US" sz="2000" dirty="0"/>
              <a:t>Which service areas are driving expenditure growth and where are emerging pressure points?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Spending pressure identification</a:t>
            </a:r>
          </a:p>
          <a:p>
            <a:r>
              <a:rPr lang="en-US" sz="2000" dirty="0"/>
              <a:t>Are resources being allocated proportionally across health boards?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Equity &amp; Per-Capita Resource Efficiency</a:t>
            </a:r>
          </a:p>
          <a:p>
            <a:r>
              <a:rPr lang="en-US" sz="2000" dirty="0"/>
              <a:t>How is the balance of funding changing between categories over time? 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Allocation Shift Monitoring</a:t>
            </a:r>
          </a:p>
          <a:p>
            <a:r>
              <a:rPr lang="en-US" sz="2000" dirty="0"/>
              <a:t>Which health boards show unusual expenditure patterns?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Cross-Board Variability</a:t>
            </a:r>
          </a:p>
          <a:p>
            <a:r>
              <a:rPr lang="en-US" sz="2000" dirty="0"/>
              <a:t>Which categories are growing faster than expected?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Financial Sustainability Signals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189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EFC6-CB9A-7A9B-FF51-72926A4A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86" y="166039"/>
            <a:ext cx="8799537" cy="118872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How I Guided the Process Before Dashboarding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D67C3-E879-69A0-A6EF-1749C3838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186" y="1576713"/>
            <a:ext cx="5581776" cy="4797342"/>
          </a:xfrm>
        </p:spPr>
        <p:txBody>
          <a:bodyPr>
            <a:normAutofit/>
          </a:bodyPr>
          <a:lstStyle/>
          <a:p>
            <a:r>
              <a:rPr lang="en-US" sz="2000" dirty="0"/>
              <a:t>Dataset assessment and limitations identified</a:t>
            </a:r>
          </a:p>
          <a:p>
            <a:pPr lvl="1"/>
            <a:r>
              <a:rPr lang="en-US" sz="1800" dirty="0"/>
              <a:t>Structural consistency across 7 health boards</a:t>
            </a:r>
          </a:p>
          <a:p>
            <a:pPr lvl="1"/>
            <a:r>
              <a:rPr lang="en-US" sz="1800" dirty="0"/>
              <a:t>Category hierarchy inconsistencies identified</a:t>
            </a:r>
          </a:p>
          <a:p>
            <a:pPr lvl="1"/>
            <a:r>
              <a:rPr lang="en-US" sz="1800" dirty="0"/>
              <a:t>Metric reconciliation across datasets</a:t>
            </a:r>
          </a:p>
          <a:p>
            <a:endParaRPr lang="en-US" sz="2000" dirty="0"/>
          </a:p>
          <a:p>
            <a:r>
              <a:rPr lang="en-US" sz="2000" dirty="0"/>
              <a:t>Reporting grain defined</a:t>
            </a:r>
          </a:p>
          <a:p>
            <a:pPr lvl="1"/>
            <a:r>
              <a:rPr lang="en-US" sz="1800" dirty="0" err="1"/>
              <a:t>HealthBoard</a:t>
            </a:r>
            <a:r>
              <a:rPr lang="en-US" sz="1800" dirty="0"/>
              <a:t> × Category × </a:t>
            </a:r>
            <a:r>
              <a:rPr lang="en-US" sz="1800" dirty="0" err="1"/>
              <a:t>FinancialYear</a:t>
            </a:r>
            <a:r>
              <a:rPr lang="en-US" sz="1800" dirty="0"/>
              <a:t> × </a:t>
            </a:r>
            <a:r>
              <a:rPr lang="en-US" sz="1800" dirty="0" err="1"/>
              <a:t>MetricType</a:t>
            </a:r>
            <a:endParaRPr lang="en-US" sz="1800" dirty="0"/>
          </a:p>
          <a:p>
            <a:pPr lvl="1"/>
            <a:r>
              <a:rPr lang="en-US" sz="1800" dirty="0"/>
              <a:t>Totals-only executive lens</a:t>
            </a:r>
          </a:p>
          <a:p>
            <a:pPr lvl="1"/>
            <a:r>
              <a:rPr lang="en-US" sz="1800" dirty="0"/>
              <a:t>Breakdown used diagnostically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E92814-C1F7-9381-287C-DFF4ED2CDA51}"/>
              </a:ext>
            </a:extLst>
          </p:cNvPr>
          <p:cNvSpPr txBox="1">
            <a:spLocks/>
          </p:cNvSpPr>
          <p:nvPr/>
        </p:nvSpPr>
        <p:spPr>
          <a:xfrm>
            <a:off x="6096000" y="1486044"/>
            <a:ext cx="5581776" cy="4797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0D8401-0858-087C-6C6E-2A617C6FF8FD}"/>
              </a:ext>
            </a:extLst>
          </p:cNvPr>
          <p:cNvSpPr txBox="1">
            <a:spLocks/>
          </p:cNvSpPr>
          <p:nvPr/>
        </p:nvSpPr>
        <p:spPr>
          <a:xfrm>
            <a:off x="5960962" y="1576713"/>
            <a:ext cx="5581776" cy="4797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Validation framework applied</a:t>
            </a:r>
          </a:p>
          <a:p>
            <a:pPr lvl="1"/>
            <a:r>
              <a:rPr lang="en-US" dirty="0"/>
              <a:t>Structural completeness checks</a:t>
            </a:r>
          </a:p>
          <a:p>
            <a:pPr lvl="1"/>
            <a:r>
              <a:rPr lang="en-US" dirty="0"/>
              <a:t>Numerical sanity check</a:t>
            </a:r>
          </a:p>
          <a:p>
            <a:pPr marL="228600" lvl="1" indent="0">
              <a:buNone/>
            </a:pPr>
            <a:endParaRPr lang="en-US" dirty="0"/>
          </a:p>
          <a:p>
            <a:r>
              <a:rPr lang="en-US" sz="2000" dirty="0"/>
              <a:t>Hierarchy risk controlled</a:t>
            </a:r>
          </a:p>
          <a:p>
            <a:pPr lvl="1"/>
            <a:r>
              <a:rPr lang="en-US" sz="1800" dirty="0"/>
              <a:t>Category Hierarchy coded in the dataset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0622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DBF-6583-722A-81F3-A94FEC654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36" y="200763"/>
            <a:ext cx="8892135" cy="1188720"/>
          </a:xfrm>
        </p:spPr>
        <p:txBody>
          <a:bodyPr>
            <a:normAutofit fontScale="90000"/>
          </a:bodyPr>
          <a:lstStyle/>
          <a:p>
            <a:pPr algn="l"/>
            <a:r>
              <a:rPr lang="en-US" sz="3800" b="1" dirty="0"/>
              <a:t>Final Outputs and What the Dashboards Enable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4282A-16A1-7BF1-779B-B78BB49B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036" y="1688920"/>
            <a:ext cx="11461716" cy="4850776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Three dashboards answering five stakeholder questions</a:t>
            </a:r>
          </a:p>
          <a:p>
            <a:pPr lvl="1"/>
            <a:r>
              <a:rPr lang="en-US" sz="2000" dirty="0"/>
              <a:t>Dashboard 1: Growth &amp; YoY – spending pressure detection</a:t>
            </a:r>
          </a:p>
          <a:p>
            <a:pPr lvl="1"/>
            <a:r>
              <a:rPr lang="en-US" sz="2000" dirty="0"/>
              <a:t>Dashboard 2 : Per-Head &amp; Benchmarking – equity and variation</a:t>
            </a:r>
          </a:p>
          <a:p>
            <a:pPr lvl="1"/>
            <a:r>
              <a:rPr lang="en-US" sz="2000" dirty="0"/>
              <a:t>Dashboard 3: Share-of-Total – strategic prioritization</a:t>
            </a:r>
          </a:p>
          <a:p>
            <a:pPr marL="0" lvl="0" indent="0">
              <a:buNone/>
            </a:pP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Supports planning, challenge, and follow-up analysis</a:t>
            </a:r>
          </a:p>
        </p:txBody>
      </p:sp>
    </p:spTree>
    <p:extLst>
      <p:ext uri="{BB962C8B-B14F-4D97-AF65-F5344CB8AC3E}">
        <p14:creationId xmlns:p14="http://schemas.microsoft.com/office/powerpoint/2010/main" val="184770515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378</TotalTime>
  <Words>588</Words>
  <Application>Microsoft Office PowerPoint</Application>
  <PresentationFormat>Widescreen</PresentationFormat>
  <Paragraphs>57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Gill Sans MT</vt:lpstr>
      <vt:lpstr>Parcel</vt:lpstr>
      <vt:lpstr>NHS Wales Financial Dashboard</vt:lpstr>
      <vt:lpstr>Context &amp; Stakeholder Requests</vt:lpstr>
      <vt:lpstr>Translating Stakeholder Questions into Analytical Problems</vt:lpstr>
      <vt:lpstr>How I Guided the Process Before Dashboarding</vt:lpstr>
      <vt:lpstr>Final Outputs and What the Dashboards Enable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eddy muigai</dc:creator>
  <cp:lastModifiedBy>eddy muigai</cp:lastModifiedBy>
  <cp:revision>2</cp:revision>
  <dcterms:created xsi:type="dcterms:W3CDTF">2026-02-10T16:54:48Z</dcterms:created>
  <dcterms:modified xsi:type="dcterms:W3CDTF">2026-02-11T09:33:49Z</dcterms:modified>
</cp:coreProperties>
</file>